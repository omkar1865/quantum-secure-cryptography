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64" r:id="rId2"/>
    <p:sldId id="265" r:id="rId3"/>
    <p:sldId id="272" r:id="rId4"/>
    <p:sldId id="266" r:id="rId5"/>
    <p:sldId id="267" r:id="rId6"/>
    <p:sldId id="273" r:id="rId7"/>
    <p:sldId id="275" r:id="rId8"/>
    <p:sldId id="268" r:id="rId9"/>
    <p:sldId id="279" r:id="rId10"/>
    <p:sldId id="280" r:id="rId11"/>
    <p:sldId id="278" r:id="rId12"/>
    <p:sldId id="281" r:id="rId13"/>
    <p:sldId id="269" r:id="rId14"/>
    <p:sldId id="270" r:id="rId15"/>
    <p:sldId id="271" r:id="rId16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1C75281-1F5D-437A-861A-0DC137DA3D42}">
          <p14:sldIdLst>
            <p14:sldId id="264"/>
            <p14:sldId id="265"/>
            <p14:sldId id="272"/>
            <p14:sldId id="266"/>
            <p14:sldId id="267"/>
            <p14:sldId id="273"/>
            <p14:sldId id="275"/>
            <p14:sldId id="268"/>
            <p14:sldId id="279"/>
            <p14:sldId id="280"/>
            <p14:sldId id="278"/>
            <p14:sldId id="281"/>
          </p14:sldIdLst>
        </p14:section>
        <p14:section name="Untitled Section" id="{A0336EC2-8771-4E4D-9836-D1D2479348CA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>
      <p:cViewPr varScale="1">
        <p:scale>
          <a:sx n="103" d="100"/>
          <a:sy n="103" d="100"/>
        </p:scale>
        <p:origin x="89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5943B-6F23-4B88-BC39-FD9FD21D9617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4738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86832-6AFC-45EF-9188-CFE7EA030EE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78e6671419f8a2a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78e6671419f8a2a0_22:notes"/>
          <p:cNvSpPr txBox="1">
            <a:spLocks noGrp="1"/>
          </p:cNvSpPr>
          <p:nvPr>
            <p:ph type="body" idx="1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g78e6671419f8a2a0_22:notes"/>
          <p:cNvSpPr txBox="1">
            <a:spLocks noGrp="1"/>
          </p:cNvSpPr>
          <p:nvPr>
            <p:ph type="sldNum" idx="12"/>
          </p:nvPr>
        </p:nvSpPr>
        <p:spPr>
          <a:xfrm>
            <a:off x="5179484" y="4885432"/>
            <a:ext cx="3962400" cy="257175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8e6671419f8a2a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8e6671419f8a2a0_26:notes"/>
          <p:cNvSpPr txBox="1">
            <a:spLocks noGrp="1"/>
          </p:cNvSpPr>
          <p:nvPr>
            <p:ph type="body" idx="1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g78e6671419f8a2a0_26:notes"/>
          <p:cNvSpPr txBox="1">
            <a:spLocks noGrp="1"/>
          </p:cNvSpPr>
          <p:nvPr>
            <p:ph type="sldNum" idx="12"/>
          </p:nvPr>
        </p:nvSpPr>
        <p:spPr>
          <a:xfrm>
            <a:off x="5179484" y="4885432"/>
            <a:ext cx="3962400" cy="257175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8e6671419f8a2a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8e6671419f8a2a0_30:notes"/>
          <p:cNvSpPr txBox="1">
            <a:spLocks noGrp="1"/>
          </p:cNvSpPr>
          <p:nvPr>
            <p:ph type="body" idx="1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78e6671419f8a2a0_30:notes"/>
          <p:cNvSpPr txBox="1">
            <a:spLocks noGrp="1"/>
          </p:cNvSpPr>
          <p:nvPr>
            <p:ph type="sldNum" idx="12"/>
          </p:nvPr>
        </p:nvSpPr>
        <p:spPr>
          <a:xfrm>
            <a:off x="5179484" y="4885432"/>
            <a:ext cx="3962400" cy="257175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78e6671419f8a2a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78e6671419f8a2a0_34:notes"/>
          <p:cNvSpPr txBox="1">
            <a:spLocks noGrp="1"/>
          </p:cNvSpPr>
          <p:nvPr>
            <p:ph type="body" idx="1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78e6671419f8a2a0_34:notes"/>
          <p:cNvSpPr txBox="1">
            <a:spLocks noGrp="1"/>
          </p:cNvSpPr>
          <p:nvPr>
            <p:ph type="sldNum" idx="12"/>
          </p:nvPr>
        </p:nvSpPr>
        <p:spPr>
          <a:xfrm>
            <a:off x="5179484" y="4885432"/>
            <a:ext cx="3962400" cy="257175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8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DFD9FF17-1ACC-7599-D682-6EC2D529C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78e6671419f8a2a0_34:notes">
            <a:extLst>
              <a:ext uri="{FF2B5EF4-FFF2-40B4-BE49-F238E27FC236}">
                <a16:creationId xmlns:a16="http://schemas.microsoft.com/office/drawing/2014/main" id="{CAE33E90-D180-5C05-CE22-A1372FA4E6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78e6671419f8a2a0_34:notes">
            <a:extLst>
              <a:ext uri="{FF2B5EF4-FFF2-40B4-BE49-F238E27FC236}">
                <a16:creationId xmlns:a16="http://schemas.microsoft.com/office/drawing/2014/main" id="{76DB5BD8-C639-C11B-A706-91F6E3BF61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78e6671419f8a2a0_34:notes">
            <a:extLst>
              <a:ext uri="{FF2B5EF4-FFF2-40B4-BE49-F238E27FC236}">
                <a16:creationId xmlns:a16="http://schemas.microsoft.com/office/drawing/2014/main" id="{D1E6BDB7-9392-3322-197D-FCA1BBB9FC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5179484" y="4885432"/>
            <a:ext cx="3962400" cy="257175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677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8e6671419f8a2a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8e6671419f8a2a0_38:notes"/>
          <p:cNvSpPr txBox="1">
            <a:spLocks noGrp="1"/>
          </p:cNvSpPr>
          <p:nvPr>
            <p:ph type="body" idx="1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g78e6671419f8a2a0_38:notes"/>
          <p:cNvSpPr txBox="1">
            <a:spLocks noGrp="1"/>
          </p:cNvSpPr>
          <p:nvPr>
            <p:ph type="sldNum" idx="12"/>
          </p:nvPr>
        </p:nvSpPr>
        <p:spPr>
          <a:xfrm>
            <a:off x="5179484" y="4885432"/>
            <a:ext cx="3962400" cy="257175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13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78e6671419f8a2a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78e6671419f8a2a0_42:notes"/>
          <p:cNvSpPr txBox="1">
            <a:spLocks noGrp="1"/>
          </p:cNvSpPr>
          <p:nvPr>
            <p:ph type="body" idx="1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78e6671419f8a2a0_42:notes"/>
          <p:cNvSpPr txBox="1">
            <a:spLocks noGrp="1"/>
          </p:cNvSpPr>
          <p:nvPr>
            <p:ph type="sldNum" idx="12"/>
          </p:nvPr>
        </p:nvSpPr>
        <p:spPr>
          <a:xfrm>
            <a:off x="5179484" y="4885432"/>
            <a:ext cx="3962400" cy="257175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14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:notes"/>
          <p:cNvSpPr txBox="1">
            <a:spLocks noGrp="1"/>
          </p:cNvSpPr>
          <p:nvPr>
            <p:ph type="body" idx="1"/>
          </p:nvPr>
        </p:nvSpPr>
        <p:spPr>
          <a:xfrm>
            <a:off x="914400" y="2443163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08000" y="385762"/>
            <a:ext cx="8128000" cy="1928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6F2F9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6F2F9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6F2F9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1_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e7d39ed9c0_0_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42109" y="25"/>
            <a:ext cx="5601890" cy="435766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858000" y="304799"/>
            <a:ext cx="1973579" cy="30022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6408" y="216408"/>
            <a:ext cx="2253996" cy="647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15159" y="756665"/>
            <a:ext cx="4313681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6F2F9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4469" y="1461367"/>
            <a:ext cx="8335060" cy="1918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"/>
          <p:cNvSpPr txBox="1"/>
          <p:nvPr/>
        </p:nvSpPr>
        <p:spPr>
          <a:xfrm>
            <a:off x="2236385" y="727434"/>
            <a:ext cx="4996800" cy="48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buClr>
                <a:srgbClr val="000000"/>
              </a:buClr>
              <a:buSzPts val="2000"/>
            </a:pPr>
            <a:r>
              <a:rPr lang="en-GB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Clr>
                <a:srgbClr val="000000"/>
              </a:buClr>
              <a:buSzPts val="1600"/>
            </a:pP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JP Nagar, </a:t>
            </a:r>
            <a:r>
              <a:rPr lang="en-GB" sz="1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Kothanur</a:t>
            </a: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GB" sz="1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Bengaluru</a:t>
            </a:r>
            <a:r>
              <a:rPr lang="en-GB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- 560076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1412980" y="2521808"/>
            <a:ext cx="6643609" cy="108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68569" rIns="68569" bIns="68569" anchor="t" anchorCtr="0">
            <a:spAutoFit/>
          </a:bodyPr>
          <a:lstStyle/>
          <a:p>
            <a:pPr algn="ctr"/>
            <a:r>
              <a:rPr lang="en-GB" sz="2400" dirty="0">
                <a:solidFill>
                  <a:schemeClr val="dk1"/>
                </a:solidFill>
              </a:rPr>
              <a:t> </a:t>
            </a:r>
            <a:r>
              <a:rPr lang="en-GB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Academic year 2025– 2026 </a:t>
            </a:r>
          </a:p>
          <a:p>
            <a:pPr algn="ctr"/>
            <a:r>
              <a:rPr lang="en-GB" sz="21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Project Phase 2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BCS786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) 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lvl="0" algn="ctr">
              <a:lnSpc>
                <a:spcPct val="90000"/>
              </a:lnSpc>
            </a:pPr>
            <a:r>
              <a:rPr lang="en-GB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-1</a:t>
            </a:r>
            <a:endParaRPr dirty="0"/>
          </a:p>
        </p:txBody>
      </p:sp>
      <p:sp>
        <p:nvSpPr>
          <p:cNvPr id="60" name="Google Shape;60;p1"/>
          <p:cNvSpPr txBox="1"/>
          <p:nvPr/>
        </p:nvSpPr>
        <p:spPr>
          <a:xfrm>
            <a:off x="861557" y="1851670"/>
            <a:ext cx="7996950" cy="1210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000000"/>
              </a:buClr>
              <a:buSzPts val="3200"/>
            </a:pPr>
            <a:r>
              <a:rPr lang="en-GB" sz="24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dirty="0"/>
              <a:t>Quantum-Secure File Transfer Cryptography</a:t>
            </a:r>
            <a:endParaRPr sz="11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/>
          <p:nvPr/>
        </p:nvSpPr>
        <p:spPr>
          <a:xfrm>
            <a:off x="1483144" y="3699375"/>
            <a:ext cx="3376888" cy="10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GB" sz="1400" b="1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r>
              <a:rPr lang="en-GB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GB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Bhuvana M L - 1RF23CS049</a:t>
            </a:r>
          </a:p>
          <a:p>
            <a:pPr>
              <a:lnSpc>
                <a:spcPct val="90000"/>
              </a:lnSpc>
            </a:pPr>
            <a:r>
              <a:rPr lang="en-GB" sz="14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Nandini G V – 1RF23CS099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GB"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Narasani</a:t>
            </a: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40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Chiruhaas</a:t>
            </a: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Reddy – 1RF23CS100</a:t>
            </a:r>
          </a:p>
          <a:p>
            <a:pPr>
              <a:lnSpc>
                <a:spcPct val="90000"/>
              </a:lnSpc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Omkar Bhowmick – 1RF23CS105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5796136" y="3696412"/>
            <a:ext cx="2428425" cy="94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GB" sz="1400" b="1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of:</a:t>
            </a:r>
            <a:endParaRPr sz="1400" b="1" i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Arial"/>
                <a:cs typeface="Times New Roman"/>
                <a:sym typeface="Times New Roman"/>
              </a:rPr>
              <a:t>Dr. Anil Kumar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90000"/>
              </a:lnSpc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b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Dept. of CSE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ct val="90000"/>
              </a:lnSpc>
            </a:pPr>
            <a:r>
              <a:rPr lang="en-GB" sz="14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RVITM</a:t>
            </a:r>
            <a:endParaRPr sz="1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78e6671419f8a2a0_22"/>
          <p:cNvSpPr txBox="1"/>
          <p:nvPr/>
        </p:nvSpPr>
        <p:spPr>
          <a:xfrm>
            <a:off x="628650" y="273847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GB" sz="2100" dirty="0">
                <a:solidFill>
                  <a:srgbClr val="000000"/>
                </a:solidFill>
              </a:rPr>
              <a:t>Contents</a:t>
            </a:r>
            <a:endParaRPr sz="2100">
              <a:solidFill>
                <a:srgbClr val="000000"/>
              </a:solidFill>
            </a:endParaRPr>
          </a:p>
        </p:txBody>
      </p:sp>
      <p:sp>
        <p:nvSpPr>
          <p:cNvPr id="69" name="Google Shape;69;g78e6671419f8a2a0_22"/>
          <p:cNvSpPr txBox="1"/>
          <p:nvPr/>
        </p:nvSpPr>
        <p:spPr>
          <a:xfrm>
            <a:off x="1187624" y="1141076"/>
            <a:ext cx="5915025" cy="369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3086100" lvl="8" indent="-257175">
              <a:lnSpc>
                <a:spcPct val="90000"/>
              </a:lnSpc>
              <a:spcBef>
                <a:spcPts val="375"/>
              </a:spcBef>
            </a:pPr>
            <a:r>
              <a:rPr lang="en-GB" b="1" dirty="0">
                <a:solidFill>
                  <a:srgbClr val="595959"/>
                </a:solidFill>
              </a:rPr>
              <a:t>                                                         </a:t>
            </a:r>
            <a:endParaRPr dirty="0">
              <a:solidFill>
                <a:srgbClr val="595959"/>
              </a:solidFill>
            </a:endParaRPr>
          </a:p>
          <a:p>
            <a:pPr marL="342900" lvl="1" indent="-257175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ts val="1800"/>
              <a:buFontTx/>
              <a:buChar char="•"/>
            </a:pPr>
            <a:r>
              <a:rPr lang="en-GB" sz="1600" b="1" dirty="0">
                <a:solidFill>
                  <a:srgbClr val="222222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Introduction</a:t>
            </a:r>
          </a:p>
          <a:p>
            <a:pPr marL="342900" lvl="1" indent="-257175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ts val="1800"/>
              <a:buFontTx/>
              <a:buChar char="•"/>
            </a:pPr>
            <a:r>
              <a:rPr lang="en-GB" sz="1600" b="1" dirty="0">
                <a:solidFill>
                  <a:srgbClr val="222222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Problem Statement</a:t>
            </a:r>
          </a:p>
          <a:p>
            <a:pPr marL="342900" lvl="1" indent="-257175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ts val="1800"/>
              <a:buFontTx/>
              <a:buChar char="•"/>
            </a:pPr>
            <a:r>
              <a:rPr lang="en-GB" sz="1600" b="1" dirty="0">
                <a:solidFill>
                  <a:srgbClr val="222222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Literature Survey</a:t>
            </a:r>
          </a:p>
          <a:p>
            <a:pPr marL="342900" lvl="1" indent="-257175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ts val="1800"/>
              <a:buFontTx/>
              <a:buChar char="•"/>
            </a:pPr>
            <a:r>
              <a:rPr lang="en-GB" sz="1600" b="1" dirty="0">
                <a:solidFill>
                  <a:srgbClr val="222222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Methodology</a:t>
            </a:r>
          </a:p>
          <a:p>
            <a:pPr marL="342900" lvl="1" indent="-257175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ts val="1800"/>
              <a:buFontTx/>
              <a:buChar char="•"/>
            </a:pPr>
            <a:r>
              <a:rPr lang="en-GB" sz="1600" b="1" dirty="0">
                <a:solidFill>
                  <a:srgbClr val="222222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Results</a:t>
            </a:r>
          </a:p>
          <a:p>
            <a:pPr marL="342900" lvl="1" indent="-257175">
              <a:lnSpc>
                <a:spcPct val="90000"/>
              </a:lnSpc>
              <a:spcBef>
                <a:spcPts val="750"/>
              </a:spcBef>
              <a:buClr>
                <a:srgbClr val="000000"/>
              </a:buClr>
              <a:buSzPts val="1800"/>
              <a:buFontTx/>
              <a:buChar char="•"/>
            </a:pPr>
            <a:r>
              <a:rPr lang="en-GB" sz="1600" b="1" dirty="0">
                <a:solidFill>
                  <a:srgbClr val="222222"/>
                </a:solidFill>
                <a:latin typeface="Times New Roman" pitchFamily="18" charset="0"/>
                <a:cs typeface="Times New Roman" pitchFamily="18" charset="0"/>
                <a:sym typeface="Times New Roman"/>
              </a:rPr>
              <a:t>References </a:t>
            </a:r>
          </a:p>
          <a:p>
            <a:pPr marL="85725">
              <a:lnSpc>
                <a:spcPct val="90000"/>
              </a:lnSpc>
              <a:spcBef>
                <a:spcPts val="750"/>
              </a:spcBef>
            </a:pPr>
            <a:endParaRPr sz="15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53B59-D4E7-C4B6-2B2C-DB6E46033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856" y="915566"/>
            <a:ext cx="4313681" cy="738664"/>
          </a:xfrm>
        </p:spPr>
        <p:txBody>
          <a:bodyPr/>
          <a:lstStyle/>
          <a:p>
            <a:r>
              <a:rPr lang="en-GB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br>
              <a:rPr lang="en-GB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1F1AF-1947-8783-9B2F-544C47080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469" y="1461367"/>
            <a:ext cx="8335060" cy="3046988"/>
          </a:xfrm>
        </p:spPr>
        <p:txBody>
          <a:bodyPr/>
          <a:lstStyle/>
          <a:p>
            <a:r>
              <a:rPr lang="en-IN" b="1" dirty="0"/>
              <a:t>What is Quantum Cryptography?</a:t>
            </a:r>
          </a:p>
          <a:p>
            <a:r>
              <a:rPr lang="en-IN" dirty="0"/>
              <a:t>Quantum cryptography uses principles of quantum mechanics to secure communication against future quantum attacks.</a:t>
            </a:r>
          </a:p>
          <a:p>
            <a:r>
              <a:rPr lang="en-IN" dirty="0"/>
              <a:t>Traditional cryptographic systems such as RSA and ECC are vulnerable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Shor’s Algorithm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Quantum factorization attacks </a:t>
            </a:r>
          </a:p>
          <a:p>
            <a:r>
              <a:rPr lang="en-IN" dirty="0"/>
              <a:t>Quantum Key Distribution (QKD) enables: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Secure quantum key exchange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Detection of eavesdropping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Future-proof communication security </a:t>
            </a:r>
          </a:p>
          <a:p>
            <a:r>
              <a:rPr lang="en-IN" dirty="0"/>
              <a:t>AES is used for efficient encryption of file data after secure quantum key generation.</a:t>
            </a:r>
          </a:p>
        </p:txBody>
      </p:sp>
    </p:spTree>
    <p:extLst>
      <p:ext uri="{BB962C8B-B14F-4D97-AF65-F5344CB8AC3E}">
        <p14:creationId xmlns:p14="http://schemas.microsoft.com/office/powerpoint/2010/main" val="1965122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B65E85-FBF4-4385-64A7-5E940D2D0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5158" y="411510"/>
            <a:ext cx="4313681" cy="369332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54CC06-F877-33BF-E78C-0EE5B7C48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536" y="957739"/>
            <a:ext cx="7551907" cy="418576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b="1" dirty="0"/>
              <a:t>Problem Definition</a:t>
            </a:r>
          </a:p>
          <a:p>
            <a:r>
              <a:rPr lang="en-IN" sz="1600" dirty="0"/>
              <a:t>Current secure communication systems rely on classical cryptographic methods vulnerable to quantum computing attacks.</a:t>
            </a:r>
          </a:p>
          <a:p>
            <a:r>
              <a:rPr lang="en-IN" sz="1600" b="1" dirty="0"/>
              <a:t>Need for Quantum-Secure Communication</a:t>
            </a:r>
          </a:p>
          <a:p>
            <a:r>
              <a:rPr lang="en-IN" sz="1600" dirty="0"/>
              <a:t>Existing systems: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Depend on RSA/ECC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Cannot resist future quantum attacks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Lack efficient secure key lifecycle handling </a:t>
            </a:r>
          </a:p>
          <a:p>
            <a:r>
              <a:rPr lang="en-IN" sz="1600" b="1" dirty="0"/>
              <a:t>Existing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Frequent key generation increases overhead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Repeated encryption operations reduce efficiency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Existing QKD systems lack optimized key management </a:t>
            </a:r>
          </a:p>
          <a:p>
            <a:r>
              <a:rPr lang="en-IN" sz="1600" b="1" dirty="0"/>
              <a:t>Proposed Need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 practical quantum-secure file transfer system using: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BB84 Quantum Key Distribution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AES encryption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Efficient key lifecycle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78e6671419f8a2a0_30"/>
          <p:cNvSpPr txBox="1"/>
          <p:nvPr/>
        </p:nvSpPr>
        <p:spPr>
          <a:xfrm>
            <a:off x="628649" y="277658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GB" sz="21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21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809A4BD-FA61-DEBE-8146-023CE8A8A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98319"/>
              </p:ext>
            </p:extLst>
          </p:nvPr>
        </p:nvGraphicFramePr>
        <p:xfrm>
          <a:off x="251520" y="987574"/>
          <a:ext cx="8784978" cy="4017451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1464163">
                  <a:extLst>
                    <a:ext uri="{9D8B030D-6E8A-4147-A177-3AD203B41FA5}">
                      <a16:colId xmlns:a16="http://schemas.microsoft.com/office/drawing/2014/main" val="484301787"/>
                    </a:ext>
                  </a:extLst>
                </a:gridCol>
                <a:gridCol w="1464163">
                  <a:extLst>
                    <a:ext uri="{9D8B030D-6E8A-4147-A177-3AD203B41FA5}">
                      <a16:colId xmlns:a16="http://schemas.microsoft.com/office/drawing/2014/main" val="3586991718"/>
                    </a:ext>
                  </a:extLst>
                </a:gridCol>
                <a:gridCol w="1464163">
                  <a:extLst>
                    <a:ext uri="{9D8B030D-6E8A-4147-A177-3AD203B41FA5}">
                      <a16:colId xmlns:a16="http://schemas.microsoft.com/office/drawing/2014/main" val="699016392"/>
                    </a:ext>
                  </a:extLst>
                </a:gridCol>
                <a:gridCol w="1464163">
                  <a:extLst>
                    <a:ext uri="{9D8B030D-6E8A-4147-A177-3AD203B41FA5}">
                      <a16:colId xmlns:a16="http://schemas.microsoft.com/office/drawing/2014/main" val="1671571540"/>
                    </a:ext>
                  </a:extLst>
                </a:gridCol>
                <a:gridCol w="1464163">
                  <a:extLst>
                    <a:ext uri="{9D8B030D-6E8A-4147-A177-3AD203B41FA5}">
                      <a16:colId xmlns:a16="http://schemas.microsoft.com/office/drawing/2014/main" val="4244964527"/>
                    </a:ext>
                  </a:extLst>
                </a:gridCol>
                <a:gridCol w="1464163">
                  <a:extLst>
                    <a:ext uri="{9D8B030D-6E8A-4147-A177-3AD203B41FA5}">
                      <a16:colId xmlns:a16="http://schemas.microsoft.com/office/drawing/2014/main" val="3929134474"/>
                    </a:ext>
                  </a:extLst>
                </a:gridCol>
              </a:tblGrid>
              <a:tr h="125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Year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Title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Author(s)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Description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Advantages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Drawbacks</a:t>
                      </a:r>
                    </a:p>
                  </a:txBody>
                  <a:tcPr marL="15220" marR="15220" marT="7610" marB="7610" anchor="ctr"/>
                </a:tc>
                <a:extLst>
                  <a:ext uri="{0D108BD9-81ED-4DB2-BD59-A6C34878D82A}">
                    <a16:rowId xmlns:a16="http://schemas.microsoft.com/office/drawing/2014/main" val="2157885198"/>
                  </a:ext>
                </a:extLst>
              </a:tr>
              <a:tr h="785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2026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Secure Quantum Communication: Simulation and Analysis of QKD Protocols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Mahendra Rasay et al.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Simulation of BB84, B92 and E91 using Qiskit. [1]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Real quantum circuit implementation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No file transfer optimization</a:t>
                      </a:r>
                    </a:p>
                  </a:txBody>
                  <a:tcPr marL="15220" marR="15220" marT="7610" marB="7610" anchor="ctr"/>
                </a:tc>
                <a:extLst>
                  <a:ext uri="{0D108BD9-81ED-4DB2-BD59-A6C34878D82A}">
                    <a16:rowId xmlns:a16="http://schemas.microsoft.com/office/drawing/2014/main" val="2523867746"/>
                  </a:ext>
                </a:extLst>
              </a:tr>
              <a:tr h="974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2025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Advances in Quantum Key Distribution Protocols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Y. Zhang et al.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Comparative study of modern QKD protocols and quantum communication techniques. [2]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Strong QKD analysis and security evaluation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No practical encryption integration</a:t>
                      </a:r>
                    </a:p>
                  </a:txBody>
                  <a:tcPr marL="15220" marR="15220" marT="7610" marB="7610" anchor="ctr"/>
                </a:tc>
                <a:extLst>
                  <a:ext uri="{0D108BD9-81ED-4DB2-BD59-A6C34878D82A}">
                    <a16:rowId xmlns:a16="http://schemas.microsoft.com/office/drawing/2014/main" val="3300996788"/>
                  </a:ext>
                </a:extLst>
              </a:tr>
              <a:tr h="785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2025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Qiskit-Based Quantum Communication System Simulation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A. Sharma et al.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Implementation of quantum communication using Qiskit simulator. [3]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Practical quantum circuit deployment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No key lifecycle optimization</a:t>
                      </a:r>
                    </a:p>
                  </a:txBody>
                  <a:tcPr marL="15220" marR="15220" marT="7610" marB="7610" anchor="ctr"/>
                </a:tc>
                <a:extLst>
                  <a:ext uri="{0D108BD9-81ED-4DB2-BD59-A6C34878D82A}">
                    <a16:rowId xmlns:a16="http://schemas.microsoft.com/office/drawing/2014/main" val="2422580397"/>
                  </a:ext>
                </a:extLst>
              </a:tr>
              <a:tr h="691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2024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Quantum Cryptography and Network Security Survey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R. Patel et al.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Survey of quantum-secure communication models and threats. [4]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Strong theoretical foundation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No implementation framework</a:t>
                      </a:r>
                    </a:p>
                  </a:txBody>
                  <a:tcPr marL="15220" marR="15220" marT="7610" marB="7610" anchor="ctr"/>
                </a:tc>
                <a:extLst>
                  <a:ext uri="{0D108BD9-81ED-4DB2-BD59-A6C34878D82A}">
                    <a16:rowId xmlns:a16="http://schemas.microsoft.com/office/drawing/2014/main" val="4152859587"/>
                  </a:ext>
                </a:extLst>
              </a:tr>
              <a:tr h="5971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1984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Quantum Cryptography: Public Key Distribution and Coin Tossing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C. H. Bennett and G. Brassard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Original BB84 Quantum Key Distribution protocol. [5]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Foundation of quantum cryptography</a:t>
                      </a:r>
                    </a:p>
                  </a:txBody>
                  <a:tcPr marL="15220" marR="15220" marT="7610" marB="761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Initial theoretical proposal only</a:t>
                      </a:r>
                    </a:p>
                  </a:txBody>
                  <a:tcPr marL="15220" marR="15220" marT="7610" marB="7610" anchor="ctr"/>
                </a:tc>
                <a:extLst>
                  <a:ext uri="{0D108BD9-81ED-4DB2-BD59-A6C34878D82A}">
                    <a16:rowId xmlns:a16="http://schemas.microsoft.com/office/drawing/2014/main" val="40932173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55FBE-701F-192F-0631-739D8BD64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5159" y="756665"/>
            <a:ext cx="4313681" cy="369332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DDFF0-824A-1B7C-9D2A-3C0CB96CC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469" y="1265515"/>
            <a:ext cx="8335060" cy="3877985"/>
          </a:xfrm>
        </p:spPr>
        <p:txBody>
          <a:bodyPr/>
          <a:lstStyle/>
          <a:p>
            <a:r>
              <a:rPr lang="en-IN" b="1" dirty="0"/>
              <a:t>Primary Objective</a:t>
            </a:r>
          </a:p>
          <a:p>
            <a:r>
              <a:rPr lang="en-IN" dirty="0"/>
              <a:t>Develop a quantum-secure file transfer system using BB84 Quantum Key Distribution and AES encryption.</a:t>
            </a:r>
          </a:p>
          <a:p>
            <a:r>
              <a:rPr lang="en-IN" b="1" dirty="0"/>
              <a:t>Secondary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Implement real quantum circuit simulation using </a:t>
            </a:r>
            <a:r>
              <a:rPr lang="en-IN" dirty="0" err="1"/>
              <a:t>Qiskit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Generate AES session keys using QKD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Develop efficient Key Lifecycle Management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Implement secure client-server communication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 redundant quantum key generation overhead </a:t>
            </a:r>
          </a:p>
          <a:p>
            <a:r>
              <a:rPr lang="en-IN" b="1" dirty="0"/>
              <a:t>Research Gap</a:t>
            </a:r>
          </a:p>
          <a:p>
            <a:r>
              <a:rPr lang="en-IN" dirty="0"/>
              <a:t>Existing QKD systems do not provide optimized key lifecycle management for repeated secure file transfer operations.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56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87B9C-AA5A-1918-F55C-BDF80F42B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5159" y="756665"/>
            <a:ext cx="4313681" cy="369332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03F83-559B-B3A9-9756-553F0289F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560" y="1203598"/>
            <a:ext cx="8335060" cy="3877985"/>
          </a:xfrm>
        </p:spPr>
        <p:txBody>
          <a:bodyPr/>
          <a:lstStyle/>
          <a:p>
            <a:r>
              <a:rPr lang="en-IN" b="1" dirty="0"/>
              <a:t>System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client-server based secure communication system using: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Qiskit</a:t>
            </a:r>
            <a:r>
              <a:rPr lang="en-IN" dirty="0"/>
              <a:t> quantum circuits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BB84 QKD protocol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AES encryption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Key Manager module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b="1" dirty="0"/>
              <a:t>Key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Quantum-derived session keys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AES encrypted file transfer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Time-based key expiry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Usage-based key reuse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GUI-based interaction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49AE1-AE08-2104-A7E5-D6E8ABC8A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2" y="1417762"/>
            <a:ext cx="2762881" cy="3449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397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DCF814E-DA66-258D-F3C9-AA45259997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797075"/>
            <a:ext cx="7920880" cy="43464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83E6DD82-4F02-CB62-A989-8212C7AA8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1F8234-AD7A-97EC-698C-BCCFC46BFF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96" y="915566"/>
            <a:ext cx="8244408" cy="412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337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1B73D-FE93-203C-5FB7-411C017B0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5159" y="756665"/>
            <a:ext cx="4313681" cy="369332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4AC9E8-F263-7B1E-AEF7-5311BD610F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395076"/>
              </p:ext>
            </p:extLst>
          </p:nvPr>
        </p:nvGraphicFramePr>
        <p:xfrm>
          <a:off x="827584" y="1419622"/>
          <a:ext cx="7560840" cy="3384384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3780420">
                  <a:extLst>
                    <a:ext uri="{9D8B030D-6E8A-4147-A177-3AD203B41FA5}">
                      <a16:colId xmlns:a16="http://schemas.microsoft.com/office/drawing/2014/main" val="944209309"/>
                    </a:ext>
                  </a:extLst>
                </a:gridCol>
                <a:gridCol w="3780420">
                  <a:extLst>
                    <a:ext uri="{9D8B030D-6E8A-4147-A177-3AD203B41FA5}">
                      <a16:colId xmlns:a16="http://schemas.microsoft.com/office/drawing/2014/main" val="101428838"/>
                    </a:ext>
                  </a:extLst>
                </a:gridCol>
              </a:tblGrid>
              <a:tr h="423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Module</a:t>
                      </a:r>
                    </a:p>
                  </a:txBody>
                  <a:tcPr marL="59928" marR="59928" marT="29964" marB="29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Function</a:t>
                      </a:r>
                    </a:p>
                  </a:txBody>
                  <a:tcPr marL="59928" marR="59928" marT="29964" marB="29964" anchor="ctr"/>
                </a:tc>
                <a:extLst>
                  <a:ext uri="{0D108BD9-81ED-4DB2-BD59-A6C34878D82A}">
                    <a16:rowId xmlns:a16="http://schemas.microsoft.com/office/drawing/2014/main" val="1492093448"/>
                  </a:ext>
                </a:extLst>
              </a:tr>
              <a:tr h="423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GUI Module</a:t>
                      </a:r>
                    </a:p>
                  </a:txBody>
                  <a:tcPr marL="59928" marR="59928" marT="29964" marB="29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Handles user interaction and file selection</a:t>
                      </a:r>
                    </a:p>
                  </a:txBody>
                  <a:tcPr marL="59928" marR="59928" marT="29964" marB="29964" anchor="ctr"/>
                </a:tc>
                <a:extLst>
                  <a:ext uri="{0D108BD9-81ED-4DB2-BD59-A6C34878D82A}">
                    <a16:rowId xmlns:a16="http://schemas.microsoft.com/office/drawing/2014/main" val="1107678494"/>
                  </a:ext>
                </a:extLst>
              </a:tr>
              <a:tr h="423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QKD Module</a:t>
                      </a:r>
                    </a:p>
                  </a:txBody>
                  <a:tcPr marL="59928" marR="59928" marT="29964" marB="29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Generates quantum-derived shared key</a:t>
                      </a:r>
                    </a:p>
                  </a:txBody>
                  <a:tcPr marL="59928" marR="59928" marT="29964" marB="29964" anchor="ctr"/>
                </a:tc>
                <a:extLst>
                  <a:ext uri="{0D108BD9-81ED-4DB2-BD59-A6C34878D82A}">
                    <a16:rowId xmlns:a16="http://schemas.microsoft.com/office/drawing/2014/main" val="868427501"/>
                  </a:ext>
                </a:extLst>
              </a:tr>
              <a:tr h="423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Quantum Circuit Module</a:t>
                      </a:r>
                    </a:p>
                  </a:txBody>
                  <a:tcPr marL="59928" marR="59928" marT="29964" marB="29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Creates and measures qubits</a:t>
                      </a:r>
                    </a:p>
                  </a:txBody>
                  <a:tcPr marL="59928" marR="59928" marT="29964" marB="29964" anchor="ctr"/>
                </a:tc>
                <a:extLst>
                  <a:ext uri="{0D108BD9-81ED-4DB2-BD59-A6C34878D82A}">
                    <a16:rowId xmlns:a16="http://schemas.microsoft.com/office/drawing/2014/main" val="4002203767"/>
                  </a:ext>
                </a:extLst>
              </a:tr>
              <a:tr h="423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AES Module</a:t>
                      </a:r>
                    </a:p>
                  </a:txBody>
                  <a:tcPr marL="59928" marR="59928" marT="29964" marB="29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Encrypts and decrypts file</a:t>
                      </a:r>
                    </a:p>
                  </a:txBody>
                  <a:tcPr marL="59928" marR="59928" marT="29964" marB="29964" anchor="ctr"/>
                </a:tc>
                <a:extLst>
                  <a:ext uri="{0D108BD9-81ED-4DB2-BD59-A6C34878D82A}">
                    <a16:rowId xmlns:a16="http://schemas.microsoft.com/office/drawing/2014/main" val="2826571188"/>
                  </a:ext>
                </a:extLst>
              </a:tr>
              <a:tr h="423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Key Manager</a:t>
                      </a:r>
                    </a:p>
                  </a:txBody>
                  <a:tcPr marL="59928" marR="59928" marT="29964" marB="29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Controls key reuse and expiry</a:t>
                      </a:r>
                    </a:p>
                  </a:txBody>
                  <a:tcPr marL="59928" marR="59928" marT="29964" marB="29964" anchor="ctr"/>
                </a:tc>
                <a:extLst>
                  <a:ext uri="{0D108BD9-81ED-4DB2-BD59-A6C34878D82A}">
                    <a16:rowId xmlns:a16="http://schemas.microsoft.com/office/drawing/2014/main" val="2320727171"/>
                  </a:ext>
                </a:extLst>
              </a:tr>
              <a:tr h="423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Client Module</a:t>
                      </a:r>
                    </a:p>
                  </a:txBody>
                  <a:tcPr marL="59928" marR="59928" marT="29964" marB="29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Sends encrypted file</a:t>
                      </a:r>
                    </a:p>
                  </a:txBody>
                  <a:tcPr marL="59928" marR="59928" marT="29964" marB="29964" anchor="ctr"/>
                </a:tc>
                <a:extLst>
                  <a:ext uri="{0D108BD9-81ED-4DB2-BD59-A6C34878D82A}">
                    <a16:rowId xmlns:a16="http://schemas.microsoft.com/office/drawing/2014/main" val="667717987"/>
                  </a:ext>
                </a:extLst>
              </a:tr>
              <a:tr h="423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Server Module</a:t>
                      </a:r>
                    </a:p>
                  </a:txBody>
                  <a:tcPr marL="59928" marR="59928" marT="29964" marB="2996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Receives and decrypts file</a:t>
                      </a:r>
                    </a:p>
                  </a:txBody>
                  <a:tcPr marL="59928" marR="59928" marT="29964" marB="29964" anchor="ctr"/>
                </a:tc>
                <a:extLst>
                  <a:ext uri="{0D108BD9-81ED-4DB2-BD59-A6C34878D82A}">
                    <a16:rowId xmlns:a16="http://schemas.microsoft.com/office/drawing/2014/main" val="2057731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310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D8D59-C62D-119E-ABC6-170EB1BAF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776" y="627534"/>
            <a:ext cx="4313681" cy="369332"/>
          </a:xfrm>
        </p:spPr>
        <p:txBody>
          <a:bodyPr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Proposed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5C4DDE-D89B-90E0-308F-B25970F18F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544" y="1059582"/>
            <a:ext cx="8335060" cy="387798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Proposed Contribution</a:t>
            </a:r>
          </a:p>
          <a:p>
            <a:r>
              <a:rPr lang="en-IN" dirty="0"/>
              <a:t>Design of an efficient key lifecycle management system integrated with BB84-based quantum key generation.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Key Innovations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Real </a:t>
            </a:r>
            <a:r>
              <a:rPr lang="en-IN" dirty="0" err="1"/>
              <a:t>Qiskit</a:t>
            </a:r>
            <a:r>
              <a:rPr lang="en-IN" dirty="0"/>
              <a:t>-based quantum circuit implementation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Controlled reuse of QKD-generated AES session keys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Time-based key expiry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Usage-based key lifecycle management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Reduced quantum key generation overhead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Improved repeated secure transfer performance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Practical integration of QKD with communication systems</a:t>
            </a:r>
          </a:p>
        </p:txBody>
      </p:sp>
    </p:spTree>
    <p:extLst>
      <p:ext uri="{BB962C8B-B14F-4D97-AF65-F5344CB8AC3E}">
        <p14:creationId xmlns:p14="http://schemas.microsoft.com/office/powerpoint/2010/main" val="357023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F179A-92B9-FD52-1DC4-BD2A039E5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776" y="555526"/>
            <a:ext cx="4313681" cy="307777"/>
          </a:xfrm>
        </p:spPr>
        <p:txBody>
          <a:bodyPr/>
          <a:lstStyle/>
          <a:p>
            <a:pPr algn="ctr"/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3CD7F-5EE3-6B05-DA71-A7BCFDF22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552" y="987574"/>
            <a:ext cx="8064896" cy="3970318"/>
          </a:xfrm>
        </p:spPr>
        <p:txBody>
          <a:bodyPr/>
          <a:lstStyle/>
          <a:p>
            <a:r>
              <a:rPr lang="en-IN" sz="1600" b="1" dirty="0"/>
              <a:t>Completed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GUI-based file transfer interface implemented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BB84 quantum circuit implemented using </a:t>
            </a:r>
            <a:r>
              <a:rPr lang="en-IN" sz="1400" dirty="0" err="1"/>
              <a:t>Qiskit</a:t>
            </a:r>
            <a:r>
              <a:rPr lang="en-IN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Qubit generation and measurement completed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AES encryption/decryption module integrated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Client-server communication established using sockets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Key Manager module developed and tested </a:t>
            </a:r>
          </a:p>
          <a:p>
            <a:r>
              <a:rPr lang="en-IN" sz="1600" b="1" dirty="0"/>
              <a:t>Tools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Python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Qiskit</a:t>
            </a:r>
            <a:r>
              <a:rPr lang="en-IN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 err="1"/>
              <a:t>Qiskit</a:t>
            </a:r>
            <a:r>
              <a:rPr lang="en-IN" sz="1400" dirty="0"/>
              <a:t> Aer Simulator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Socket Programming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Cryptography Library </a:t>
            </a:r>
          </a:p>
          <a:p>
            <a:r>
              <a:rPr lang="en-IN" sz="1600" b="1" dirty="0"/>
              <a:t>Future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Multi-user secure communication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Real network deployment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Performance benchmarking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Eavesdropping simulation and analysis</a:t>
            </a:r>
          </a:p>
        </p:txBody>
      </p:sp>
    </p:spTree>
    <p:extLst>
      <p:ext uri="{BB962C8B-B14F-4D97-AF65-F5344CB8AC3E}">
        <p14:creationId xmlns:p14="http://schemas.microsoft.com/office/powerpoint/2010/main" val="18818131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78e6671419f8a2a0_38"/>
          <p:cNvSpPr txBox="1"/>
          <p:nvPr/>
        </p:nvSpPr>
        <p:spPr>
          <a:xfrm>
            <a:off x="548097" y="555526"/>
            <a:ext cx="8047806" cy="50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IN" sz="2400" b="1" dirty="0"/>
              <a:t>RESULTS</a:t>
            </a:r>
            <a:endParaRPr sz="21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718F99-83E4-87EB-54B7-6EEE6FB1FF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7544" y="1086148"/>
            <a:ext cx="734481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Observations: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BB84 quantum key generation successful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AES encryption integrated successfully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Key reuse mechanism functioning correctly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Reduction in redundant quantum key generation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Successful encrypted secure file transfer achieved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5E7BB9-9B43-662E-7E4A-0946A01F6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43945"/>
              </p:ext>
            </p:extLst>
          </p:nvPr>
        </p:nvGraphicFramePr>
        <p:xfrm>
          <a:off x="467544" y="3003798"/>
          <a:ext cx="8334374" cy="146304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4167187">
                  <a:extLst>
                    <a:ext uri="{9D8B030D-6E8A-4147-A177-3AD203B41FA5}">
                      <a16:colId xmlns:a16="http://schemas.microsoft.com/office/drawing/2014/main" val="567238577"/>
                    </a:ext>
                  </a:extLst>
                </a:gridCol>
                <a:gridCol w="4167187">
                  <a:extLst>
                    <a:ext uri="{9D8B030D-6E8A-4147-A177-3AD203B41FA5}">
                      <a16:colId xmlns:a16="http://schemas.microsoft.com/office/drawing/2014/main" val="174600107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Transfer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Key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97080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1st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New Quantum Key Generated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501161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2nd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Quantum Key Reused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88972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3rd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New Quantum Key Generated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10505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78e6671419f8a2a0_42"/>
          <p:cNvSpPr txBox="1"/>
          <p:nvPr/>
        </p:nvSpPr>
        <p:spPr>
          <a:xfrm>
            <a:off x="628649" y="440855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GB" sz="21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21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D4468-1252-084E-F233-76AA90290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469" y="1173182"/>
            <a:ext cx="8335060" cy="270843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[1] M. Rasay et al., “Secure Quantum Communication: Simulation and Analysis of Quantum Key Distribution Protocols,” </a:t>
            </a:r>
            <a:r>
              <a:rPr lang="en-IN" sz="1600" dirty="0" err="1"/>
              <a:t>arXiv</a:t>
            </a:r>
            <a:r>
              <a:rPr lang="en-IN" sz="1600" dirty="0"/>
              <a:t> preprint, 2026.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[2] Y. Zhang et al., “Advances in Quantum Key Distribution Protocols,” IEEE Access,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[3] A. Sharma et al., “</a:t>
            </a:r>
            <a:r>
              <a:rPr lang="en-IN" sz="1600" dirty="0" err="1"/>
              <a:t>Qiskit</a:t>
            </a:r>
            <a:r>
              <a:rPr lang="en-IN" sz="1600" dirty="0"/>
              <a:t>-Based Quantum Communication System Simulation,” Springer,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[4] R. Patel et al., “Quantum Cryptography and Network Security Survey,” Elsevier, 2024.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[5] C. H. Bennett and G. Brassard, “Quantum Cryptography: Public Key Distribution and Coin Tossing,” IEEE International Conference on Computers, Systems and Signal Processing, 1984.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[6] M. A. Nielsen and I. L. Chuang, </a:t>
            </a:r>
            <a:r>
              <a:rPr lang="en-IN" sz="1600" i="1" dirty="0"/>
              <a:t>Quantum Computation and Quantum Information</a:t>
            </a:r>
            <a:r>
              <a:rPr lang="en-IN" sz="1600" dirty="0"/>
              <a:t>, Cambridge University Press, 2010.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[7] IBM Quantum, “</a:t>
            </a:r>
            <a:r>
              <a:rPr lang="en-IN" sz="1600" dirty="0" err="1"/>
              <a:t>Qiskit</a:t>
            </a:r>
            <a:r>
              <a:rPr lang="en-IN" sz="1600" dirty="0"/>
              <a:t> Documentation,” 2025.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/>
        </p:nvSpPr>
        <p:spPr>
          <a:xfrm>
            <a:off x="1610325" y="1974859"/>
            <a:ext cx="5829300" cy="87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000000"/>
              </a:buClr>
              <a:buSzPts val="5200"/>
            </a:pPr>
            <a:r>
              <a:rPr lang="en-GB" sz="39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17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610</TotalTime>
  <Words>925</Words>
  <Application>Microsoft Office PowerPoint</Application>
  <PresentationFormat>On-screen Show (16:9)</PresentationFormat>
  <Paragraphs>194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INTRODUCTION </vt:lpstr>
      <vt:lpstr>Problem Statement</vt:lpstr>
      <vt:lpstr>PowerPoint Presentation</vt:lpstr>
      <vt:lpstr>Project Objectives</vt:lpstr>
      <vt:lpstr>PROPOSED SYSTEM</vt:lpstr>
      <vt:lpstr>PowerPoint Presentation</vt:lpstr>
      <vt:lpstr>PowerPoint Presentation</vt:lpstr>
      <vt:lpstr>MODULES</vt:lpstr>
      <vt:lpstr>Novelty of Proposed Work</vt:lpstr>
      <vt:lpstr>IMPLEMENTATION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Shruthi P</dc:creator>
  <cp:lastModifiedBy>Omkar Bhowmick</cp:lastModifiedBy>
  <cp:revision>53</cp:revision>
  <dcterms:created xsi:type="dcterms:W3CDTF">2024-05-03T04:17:45Z</dcterms:created>
  <dcterms:modified xsi:type="dcterms:W3CDTF">2026-08-12T09:11:41Z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2024-05-03T00:00:00Z</vt:filetime>
  </property>
</Properties>
</file>